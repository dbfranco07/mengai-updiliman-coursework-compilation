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9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9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4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8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8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8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73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5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8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2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6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Connected sticks shaping polygons background">
            <a:extLst>
              <a:ext uri="{FF2B5EF4-FFF2-40B4-BE49-F238E27FC236}">
                <a16:creationId xmlns:a16="http://schemas.microsoft.com/office/drawing/2014/main" id="{768039B6-CA9E-E2D1-0FBD-6345ABA62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46CD4-9391-E6A4-24BD-A7DA0755F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800" b="1" i="0" u="none" strike="noStrike" baseline="0" dirty="0">
                <a:latin typeface="NimbusSanL-Bold"/>
              </a:rPr>
              <a:t>Optimizing Classification Capability of Classical Machine</a:t>
            </a:r>
            <a:br>
              <a:rPr lang="en-US" sz="1800" b="1" i="0" u="none" strike="noStrike" baseline="0" dirty="0">
                <a:latin typeface="NimbusSanL-Bold"/>
              </a:rPr>
            </a:br>
            <a:r>
              <a:rPr lang="en-US" sz="1800" b="1" i="0" u="none" strike="noStrike" baseline="0" dirty="0">
                <a:latin typeface="NimbusSanL-Bold"/>
              </a:rPr>
              <a:t>Learning Models on Traffic Signs</a:t>
            </a:r>
            <a:endParaRPr lang="en-PH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0BB9C-664D-B8EE-CBAF-6F9B2075E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900" dirty="0"/>
              <a:t>Deomary Angelo Franco</a:t>
            </a:r>
          </a:p>
          <a:p>
            <a:pPr algn="r"/>
            <a:r>
              <a:rPr lang="en-US" sz="1900" dirty="0"/>
              <a:t>AI 201</a:t>
            </a:r>
            <a:endParaRPr lang="en-PH" sz="1900" dirty="0"/>
          </a:p>
        </p:txBody>
      </p:sp>
    </p:spTree>
    <p:extLst>
      <p:ext uri="{BB962C8B-B14F-4D97-AF65-F5344CB8AC3E}">
        <p14:creationId xmlns:p14="http://schemas.microsoft.com/office/powerpoint/2010/main" val="1934327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8326-5D77-A4FD-B6BA-D9FE35F06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in a nutshell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21E68-3628-E99F-2742-43B5354B1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9238742" cy="37673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 different classical machine learning classifier models for Traffic Sign Recognition</a:t>
            </a:r>
          </a:p>
          <a:p>
            <a:pPr lvl="1"/>
            <a:r>
              <a:rPr lang="en-US" dirty="0"/>
              <a:t>Stochastic Gradient Descent (SGD) Classifier</a:t>
            </a:r>
          </a:p>
          <a:p>
            <a:pPr lvl="1"/>
            <a:r>
              <a:rPr lang="en-US" dirty="0"/>
              <a:t>Multilayer Perceptron (MLP)</a:t>
            </a:r>
          </a:p>
          <a:p>
            <a:pPr lvl="1"/>
            <a:r>
              <a:rPr lang="en-US" dirty="0"/>
              <a:t>Support Vector Machine (SVM)</a:t>
            </a:r>
          </a:p>
          <a:p>
            <a:pPr lvl="1"/>
            <a:r>
              <a:rPr lang="en-US" dirty="0"/>
              <a:t>Extreme Gradient Boosting (XGBoost)</a:t>
            </a:r>
            <a:endParaRPr lang="en-PH" dirty="0"/>
          </a:p>
          <a:p>
            <a:r>
              <a:rPr lang="en-PH" dirty="0"/>
              <a:t>Use different handcrafting feature transformations</a:t>
            </a:r>
          </a:p>
          <a:p>
            <a:pPr lvl="1"/>
            <a:r>
              <a:rPr lang="en-PH" dirty="0"/>
              <a:t>Flatten Transformation</a:t>
            </a:r>
          </a:p>
          <a:p>
            <a:pPr lvl="1"/>
            <a:r>
              <a:rPr lang="en-PH" dirty="0"/>
              <a:t>Histogram of Gradient Transformation (HOG)</a:t>
            </a:r>
          </a:p>
          <a:p>
            <a:pPr lvl="1"/>
            <a:r>
              <a:rPr lang="en-PH" dirty="0"/>
              <a:t>Local Binary Pattern Transformation (LBP)</a:t>
            </a:r>
          </a:p>
          <a:p>
            <a:pPr lvl="1"/>
            <a:r>
              <a:rPr lang="en-PH" dirty="0"/>
              <a:t>Combined Transformation (Flatten + HOG + LBP)</a:t>
            </a:r>
          </a:p>
          <a:p>
            <a:r>
              <a:rPr lang="en-PH" dirty="0"/>
              <a:t>Metrics</a:t>
            </a:r>
          </a:p>
          <a:p>
            <a:pPr lvl="1"/>
            <a:r>
              <a:rPr lang="en-PH" dirty="0"/>
              <a:t>Accuracy</a:t>
            </a:r>
          </a:p>
          <a:p>
            <a:pPr lvl="1"/>
            <a:r>
              <a:rPr lang="en-PH" dirty="0"/>
              <a:t>Macro F1 Score</a:t>
            </a:r>
          </a:p>
        </p:txBody>
      </p:sp>
    </p:spTree>
    <p:extLst>
      <p:ext uri="{BB962C8B-B14F-4D97-AF65-F5344CB8AC3E}">
        <p14:creationId xmlns:p14="http://schemas.microsoft.com/office/powerpoint/2010/main" val="1185361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9681-3EBE-E780-0045-5E9B434A5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PH" dirty="0"/>
          </a:p>
        </p:txBody>
      </p:sp>
      <p:pic>
        <p:nvPicPr>
          <p:cNvPr id="5" name="Content Placeholder 4" descr="A collage of a screenshot of a road sign&#10;&#10;AI-generated content may be incorrect.">
            <a:extLst>
              <a:ext uri="{FF2B5EF4-FFF2-40B4-BE49-F238E27FC236}">
                <a16:creationId xmlns:a16="http://schemas.microsoft.com/office/drawing/2014/main" id="{BF82E08B-BF23-95E7-29DB-8F3607245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03" y="1766343"/>
            <a:ext cx="4353540" cy="4323308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520F73-90F1-0AAC-3B2C-9ABEAF011C95}"/>
              </a:ext>
            </a:extLst>
          </p:cNvPr>
          <p:cNvSpPr txBox="1">
            <a:spLocks/>
          </p:cNvSpPr>
          <p:nvPr/>
        </p:nvSpPr>
        <p:spPr>
          <a:xfrm>
            <a:off x="6179938" y="1832423"/>
            <a:ext cx="5496950" cy="4513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German Traffic Sign Recognition Benchmark (GTSRB) Dataset.</a:t>
            </a:r>
          </a:p>
          <a:p>
            <a:r>
              <a:rPr lang="en-US" dirty="0"/>
              <a:t>43 classes</a:t>
            </a:r>
          </a:p>
          <a:p>
            <a:r>
              <a:rPr lang="en-PH" dirty="0"/>
              <a:t>Composed of speed limits, prohibitory signs, warning signs, mandatory signs, priority signs, </a:t>
            </a:r>
            <a:r>
              <a:rPr lang="en-PH" dirty="0" err="1"/>
              <a:t>etc</a:t>
            </a:r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9146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DBA72-8364-533D-8DC0-8683B51D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PH" dirty="0"/>
          </a:p>
        </p:txBody>
      </p:sp>
      <p:pic>
        <p:nvPicPr>
          <p:cNvPr id="4" name="Content Placeholder 3" descr="A graph of blue bars&#10;&#10;AI-generated content may be incorrect.">
            <a:extLst>
              <a:ext uri="{FF2B5EF4-FFF2-40B4-BE49-F238E27FC236}">
                <a16:creationId xmlns:a16="http://schemas.microsoft.com/office/drawing/2014/main" id="{9B70D534-77E3-26A6-87DB-7499EB5BD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81" y="1709928"/>
            <a:ext cx="10872238" cy="356616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1CD6CE-BE01-C7BD-D4E2-8850EA7D6D49}"/>
              </a:ext>
            </a:extLst>
          </p:cNvPr>
          <p:cNvSpPr txBox="1">
            <a:spLocks/>
          </p:cNvSpPr>
          <p:nvPr/>
        </p:nvSpPr>
        <p:spPr>
          <a:xfrm>
            <a:off x="692150" y="5346700"/>
            <a:ext cx="10984738" cy="99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Ranges from around 200 to 2200 counts.</a:t>
            </a:r>
          </a:p>
          <a:p>
            <a:r>
              <a:rPr lang="en-US" dirty="0"/>
              <a:t>Average is around 900</a:t>
            </a:r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1649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EC31B-E907-2F6E-237A-C0195E46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7D99F-920C-0988-9B1B-7D879F3E4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457192" cy="792389"/>
          </a:xfrm>
        </p:spPr>
        <p:txBody>
          <a:bodyPr/>
          <a:lstStyle/>
          <a:p>
            <a:r>
              <a:rPr lang="en-US" dirty="0"/>
              <a:t>Those with asterisk are those that can be changed</a:t>
            </a:r>
            <a:endParaRPr lang="en-PH" dirty="0"/>
          </a:p>
        </p:txBody>
      </p:sp>
      <p:pic>
        <p:nvPicPr>
          <p:cNvPr id="9" name="Picture 8" descr="A diagram of a pipeline&#10;&#10;AI-generated content may be incorrect.">
            <a:extLst>
              <a:ext uri="{FF2B5EF4-FFF2-40B4-BE49-F238E27FC236}">
                <a16:creationId xmlns:a16="http://schemas.microsoft.com/office/drawing/2014/main" id="{C52D9793-8D0E-1E24-7A31-A265068E6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3680477"/>
            <a:ext cx="5623613" cy="2053065"/>
          </a:xfrm>
          <a:prstGeom prst="rect">
            <a:avLst/>
          </a:prstGeom>
        </p:spPr>
      </p:pic>
      <p:pic>
        <p:nvPicPr>
          <p:cNvPr id="10" name="Content Placeholder 4" descr="A diagram of a model&#10;&#10;AI-generated content may be incorrect.">
            <a:extLst>
              <a:ext uri="{FF2B5EF4-FFF2-40B4-BE49-F238E27FC236}">
                <a16:creationId xmlns:a16="http://schemas.microsoft.com/office/drawing/2014/main" id="{1921F4C2-00EA-085F-9B7D-83DE46154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915" y="1320416"/>
            <a:ext cx="4619391" cy="482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6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2820-F6FB-05C1-F0B1-203FD8A7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Flatten Transformation</a:t>
            </a:r>
            <a:endParaRPr lang="en-PH" dirty="0"/>
          </a:p>
        </p:txBody>
      </p:sp>
      <p:pic>
        <p:nvPicPr>
          <p:cNvPr id="9" name="Content Placeholder 8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5002CAB9-70CC-EB85-DE65-1DD484745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038" y="2382032"/>
            <a:ext cx="5739006" cy="3146177"/>
          </a:xfrm>
        </p:spPr>
      </p:pic>
    </p:spTree>
    <p:extLst>
      <p:ext uri="{BB962C8B-B14F-4D97-AF65-F5344CB8AC3E}">
        <p14:creationId xmlns:p14="http://schemas.microsoft.com/office/powerpoint/2010/main" val="25447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C411-8297-23E9-EADF-31995D44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of Gradients Transformation</a:t>
            </a:r>
            <a:endParaRPr lang="en-PH" dirty="0"/>
          </a:p>
        </p:txBody>
      </p:sp>
      <p:pic>
        <p:nvPicPr>
          <p:cNvPr id="5" name="Content Placeholder 4" descr="A close up of a number&#10;&#10;AI-generated content may be incorrect.">
            <a:extLst>
              <a:ext uri="{FF2B5EF4-FFF2-40B4-BE49-F238E27FC236}">
                <a16:creationId xmlns:a16="http://schemas.microsoft.com/office/drawing/2014/main" id="{86F40F95-4591-D539-B3A9-53920C656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25" y="3003391"/>
            <a:ext cx="4090303" cy="2069661"/>
          </a:xfrm>
        </p:spPr>
      </p:pic>
      <p:pic>
        <p:nvPicPr>
          <p:cNvPr id="1028" name="Picture 4" descr="Computation of histogram of Oriented gradients [1] based feature vector...  | Download Scientific Diagram">
            <a:extLst>
              <a:ext uri="{FF2B5EF4-FFF2-40B4-BE49-F238E27FC236}">
                <a16:creationId xmlns:a16="http://schemas.microsoft.com/office/drawing/2014/main" id="{09E61A94-6486-64F3-BC32-8D7A6B7AF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315" y="2729988"/>
            <a:ext cx="6500173" cy="130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E34F4C-3856-A6D7-89B8-46D341477933}"/>
              </a:ext>
            </a:extLst>
          </p:cNvPr>
          <p:cNvSpPr txBox="1"/>
          <p:nvPr/>
        </p:nvSpPr>
        <p:spPr>
          <a:xfrm>
            <a:off x="4847131" y="4208804"/>
            <a:ext cx="68297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adapted from Khan et al., “An Efficient Multi-Stage Adaptive Boosting Approach for Landmine Detection in Ground Penetrating Radar Data,” 2019.</a:t>
            </a:r>
            <a:endParaRPr lang="en-PH" sz="1050" dirty="0"/>
          </a:p>
        </p:txBody>
      </p:sp>
    </p:spTree>
    <p:extLst>
      <p:ext uri="{BB962C8B-B14F-4D97-AF65-F5344CB8AC3E}">
        <p14:creationId xmlns:p14="http://schemas.microsoft.com/office/powerpoint/2010/main" val="3028250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562C5-D5CB-A11F-0E53-407CC1781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Binary Pattern Transformation</a:t>
            </a:r>
            <a:endParaRPr lang="en-PH" dirty="0"/>
          </a:p>
        </p:txBody>
      </p:sp>
      <p:pic>
        <p:nvPicPr>
          <p:cNvPr id="5" name="Content Placeholder 4" descr="A close up of a sign&#10;&#10;AI-generated content may be incorrect.">
            <a:extLst>
              <a:ext uri="{FF2B5EF4-FFF2-40B4-BE49-F238E27FC236}">
                <a16:creationId xmlns:a16="http://schemas.microsoft.com/office/drawing/2014/main" id="{A1D76EBC-D8B6-05A5-0350-9938F9812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01" y="2927228"/>
            <a:ext cx="3858631" cy="192417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9EA05B-F8D5-410C-8F92-3D7E2C84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539" y="2142766"/>
            <a:ext cx="5115639" cy="21338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07153E-FB8D-297F-1C32-A5C5591A4BE2}"/>
              </a:ext>
            </a:extLst>
          </p:cNvPr>
          <p:cNvSpPr txBox="1"/>
          <p:nvPr/>
        </p:nvSpPr>
        <p:spPr>
          <a:xfrm>
            <a:off x="5063031" y="4597483"/>
            <a:ext cx="68297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Figure adapted from Loy and </a:t>
            </a:r>
            <a:r>
              <a:rPr lang="en-US" sz="1050" dirty="0" err="1"/>
              <a:t>Eklundh</a:t>
            </a:r>
            <a:r>
              <a:rPr lang="en-US" sz="1050" dirty="0"/>
              <a:t>, “Multimodal and Mirror Invariant Image Description,” 2010.</a:t>
            </a:r>
            <a:endParaRPr lang="en-PH" sz="1050" dirty="0"/>
          </a:p>
        </p:txBody>
      </p:sp>
    </p:spTree>
    <p:extLst>
      <p:ext uri="{BB962C8B-B14F-4D97-AF65-F5344CB8AC3E}">
        <p14:creationId xmlns:p14="http://schemas.microsoft.com/office/powerpoint/2010/main" val="2556726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FA29-F345-8431-09ED-48A64424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Transformation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30090-2FEA-02C1-4EF1-F98EB47A0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Combination of the Flatten, HOG, and LBP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9879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3266-8637-053C-6C4F-8B190200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9EFBB-25C2-8D9C-CEBB-146C98404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speed up training and reduce chances of overfitting, </a:t>
            </a:r>
            <a:r>
              <a:rPr lang="en-US" b="1" dirty="0"/>
              <a:t>Principal Component Analysis </a:t>
            </a:r>
            <a:r>
              <a:rPr lang="en-US" dirty="0"/>
              <a:t>is applied with 95% Cumulative Explained Variance Ratio.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12370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F2CC-B997-E152-24AB-1F477EA3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A213F-3922-86B6-3EDA-C22B1B1C4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58" y="2230267"/>
            <a:ext cx="3871137" cy="1198733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ABAF611-D025-3FEB-FF01-E5980880C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698" y="1457420"/>
            <a:ext cx="4017846" cy="2483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03AFE8-F789-53D8-7143-7BBB90CB0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58" y="4822169"/>
            <a:ext cx="3791479" cy="1057423"/>
          </a:xfrm>
          <a:prstGeom prst="rect">
            <a:avLst/>
          </a:prstGeom>
        </p:spPr>
      </p:pic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229EC5B-612B-809A-4487-AC175BB8D1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41321"/>
            <a:ext cx="3874544" cy="239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39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826-BAED-AE36-E673-891881AF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Learning Results and Human Performance</a:t>
            </a:r>
            <a:endParaRPr lang="en-P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FD0AB6-537B-0979-B214-09AC1CCE4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7713" y="3429000"/>
            <a:ext cx="6530638" cy="1611007"/>
          </a:xfrm>
        </p:spPr>
      </p:pic>
    </p:spTree>
    <p:extLst>
      <p:ext uri="{BB962C8B-B14F-4D97-AF65-F5344CB8AC3E}">
        <p14:creationId xmlns:p14="http://schemas.microsoft.com/office/powerpoint/2010/main" val="118548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E659-7AD4-ABBA-96D1-BB638893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</a:t>
            </a:r>
            <a:br>
              <a:rPr lang="en-US" dirty="0"/>
            </a:br>
            <a:r>
              <a:rPr lang="en-US" dirty="0"/>
              <a:t>Matrix</a:t>
            </a:r>
            <a:endParaRPr lang="en-PH" dirty="0"/>
          </a:p>
        </p:txBody>
      </p:sp>
      <p:pic>
        <p:nvPicPr>
          <p:cNvPr id="5" name="Content Placeholder 4" descr="A blue and white line&#10;&#10;AI-generated content may be incorrect.">
            <a:extLst>
              <a:ext uri="{FF2B5EF4-FFF2-40B4-BE49-F238E27FC236}">
                <a16:creationId xmlns:a16="http://schemas.microsoft.com/office/drawing/2014/main" id="{3675C2BD-56B9-1FC6-5424-6B8D45342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477" y="53807"/>
            <a:ext cx="6712506" cy="6750385"/>
          </a:xfrm>
        </p:spPr>
      </p:pic>
    </p:spTree>
    <p:extLst>
      <p:ext uri="{BB962C8B-B14F-4D97-AF65-F5344CB8AC3E}">
        <p14:creationId xmlns:p14="http://schemas.microsoft.com/office/powerpoint/2010/main" val="377209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194D5-3082-6483-4616-7EC759E0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3DCD-1440-736B-8DE8-070A7FAB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</a:t>
            </a:r>
            <a:br>
              <a:rPr lang="en-US" dirty="0"/>
            </a:br>
            <a:r>
              <a:rPr lang="en-US" dirty="0"/>
              <a:t>Matrix</a:t>
            </a:r>
            <a:endParaRPr lang="en-PH" dirty="0"/>
          </a:p>
        </p:txBody>
      </p:sp>
      <p:pic>
        <p:nvPicPr>
          <p:cNvPr id="5" name="Content Placeholder 4" descr="A blue and white line&#10;&#10;AI-generated content may be incorrect.">
            <a:extLst>
              <a:ext uri="{FF2B5EF4-FFF2-40B4-BE49-F238E27FC236}">
                <a16:creationId xmlns:a16="http://schemas.microsoft.com/office/drawing/2014/main" id="{1D882CE7-F49A-C2E7-AFF1-6413925F2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844" b="74009"/>
          <a:stretch/>
        </p:blipFill>
        <p:spPr>
          <a:xfrm>
            <a:off x="3400486" y="1201311"/>
            <a:ext cx="8110670" cy="5028892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BCA2FEA-AE72-DFC0-C190-01DDCDA77187}"/>
              </a:ext>
            </a:extLst>
          </p:cNvPr>
          <p:cNvSpPr/>
          <p:nvPr/>
        </p:nvSpPr>
        <p:spPr>
          <a:xfrm>
            <a:off x="5854700" y="1742000"/>
            <a:ext cx="469900" cy="13250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C69689-3A63-06EF-13F2-E1153CD8B6AD}"/>
              </a:ext>
            </a:extLst>
          </p:cNvPr>
          <p:cNvSpPr/>
          <p:nvPr/>
        </p:nvSpPr>
        <p:spPr>
          <a:xfrm>
            <a:off x="4127500" y="3594100"/>
            <a:ext cx="1308100" cy="3746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1678EA-485F-4793-428E-5C03898F4FB8}"/>
              </a:ext>
            </a:extLst>
          </p:cNvPr>
          <p:cNvSpPr/>
          <p:nvPr/>
        </p:nvSpPr>
        <p:spPr>
          <a:xfrm>
            <a:off x="4546600" y="1803003"/>
            <a:ext cx="793750" cy="3623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9B903E-998F-74A8-8B57-584E8BFB60A1}"/>
              </a:ext>
            </a:extLst>
          </p:cNvPr>
          <p:cNvSpPr/>
          <p:nvPr/>
        </p:nvSpPr>
        <p:spPr>
          <a:xfrm>
            <a:off x="5038725" y="2217150"/>
            <a:ext cx="301625" cy="3623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912536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246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Bierstadt</vt:lpstr>
      <vt:lpstr>NimbusSanL-Bold</vt:lpstr>
      <vt:lpstr>GestaltVTI</vt:lpstr>
      <vt:lpstr>Optimizing Classification Capability of Classical Machine Learning Models on Traffic Signs</vt:lpstr>
      <vt:lpstr>Study in a nutshell</vt:lpstr>
      <vt:lpstr>Dataset</vt:lpstr>
      <vt:lpstr>Dataset</vt:lpstr>
      <vt:lpstr>Pipeline</vt:lpstr>
      <vt:lpstr>Flatten Transformation</vt:lpstr>
      <vt:lpstr>Histogram of Gradients Transformation</vt:lpstr>
      <vt:lpstr>Local Binary Pattern Transformation</vt:lpstr>
      <vt:lpstr>Combined Transformation</vt:lpstr>
      <vt:lpstr>Dimensionality Reduction</vt:lpstr>
      <vt:lpstr>Results</vt:lpstr>
      <vt:lpstr>Deep Learning Results and Human Performance</vt:lpstr>
      <vt:lpstr>Confusion  Matrix</vt:lpstr>
      <vt:lpstr>Confusion 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Deomary Angelo Franco</dc:creator>
  <cp:lastModifiedBy>Deomary Angelo Franco</cp:lastModifiedBy>
  <cp:revision>3</cp:revision>
  <dcterms:created xsi:type="dcterms:W3CDTF">2025-05-26T16:30:09Z</dcterms:created>
  <dcterms:modified xsi:type="dcterms:W3CDTF">2025-05-26T17:31:48Z</dcterms:modified>
</cp:coreProperties>
</file>